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5" r:id="rId2"/>
    <p:sldId id="257" r:id="rId3"/>
    <p:sldId id="258" r:id="rId4"/>
    <p:sldId id="259" r:id="rId5"/>
    <p:sldId id="260" r:id="rId6"/>
    <p:sldId id="261" r:id="rId7"/>
    <p:sldId id="264" r:id="rId8"/>
    <p:sldId id="268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A65C5-A2A0-4486-B4B4-CB53A778C436}" v="821" dt="2026-01-11T17:38:13.829"/>
    <p1510:client id="{3E10498A-E86E-A0F5-7E89-547367B120C3}" v="730" dt="2026-01-11T17:07:51.038"/>
    <p1510:client id="{D5A3C312-287B-E10A-C9E1-D1949E92E369}" v="108" dt="2026-01-11T17:45:01.3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454C3-5142-4E15-8E5D-CB6761A17DB0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E41AE-B016-4BCE-8660-B5D7203D3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515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E41AE-B016-4BCE-8660-B5D7203D3B4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036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2BF58D-B9DC-60BD-DBB9-C108D2FA56D0}"/>
              </a:ext>
            </a:extLst>
          </p:cNvPr>
          <p:cNvSpPr txBox="1"/>
          <p:nvPr/>
        </p:nvSpPr>
        <p:spPr>
          <a:xfrm>
            <a:off x="671189" y="263004"/>
            <a:ext cx="8884843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ea typeface="+mn-lt"/>
                <a:cs typeface="+mn-lt"/>
              </a:rPr>
              <a:t>Shawls or Stoles? Resource Optimization at Looms of Ladakh</a:t>
            </a:r>
            <a:endParaRPr lang="en-US" sz="3200" b="1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1428A8AD-3AA6-0F9C-3453-FA4C204E1FF0}"/>
              </a:ext>
            </a:extLst>
          </p:cNvPr>
          <p:cNvSpPr/>
          <p:nvPr/>
        </p:nvSpPr>
        <p:spPr>
          <a:xfrm>
            <a:off x="665743" y="1515251"/>
            <a:ext cx="7414377" cy="379124"/>
          </a:xfrm>
          <a:prstGeom prst="homePlat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2">
                    <a:lumMod val="20000"/>
                    <a:lumOff val="80000"/>
                  </a:schemeClr>
                </a:solidFill>
              </a:rPr>
              <a:t>Balancing Social Mission with Operational Excellence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F078EE-94A2-E864-EE23-23D443280C0D}"/>
              </a:ext>
            </a:extLst>
          </p:cNvPr>
          <p:cNvSpPr txBox="1"/>
          <p:nvPr/>
        </p:nvSpPr>
        <p:spPr>
          <a:xfrm>
            <a:off x="8338714" y="2781714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Presentation by:</a:t>
            </a:r>
          </a:p>
          <a:p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C088BEA-ACDC-484B-01D9-09DB6AA94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291611"/>
              </p:ext>
            </p:extLst>
          </p:nvPr>
        </p:nvGraphicFramePr>
        <p:xfrm>
          <a:off x="6822343" y="3429001"/>
          <a:ext cx="5369395" cy="137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15459">
                  <a:extLst>
                    <a:ext uri="{9D8B030D-6E8A-4147-A177-3AD203B41FA5}">
                      <a16:colId xmlns:a16="http://schemas.microsoft.com/office/drawing/2014/main" val="3320647683"/>
                    </a:ext>
                  </a:extLst>
                </a:gridCol>
                <a:gridCol w="1327897">
                  <a:extLst>
                    <a:ext uri="{9D8B030D-6E8A-4147-A177-3AD203B41FA5}">
                      <a16:colId xmlns:a16="http://schemas.microsoft.com/office/drawing/2014/main" val="915585908"/>
                    </a:ext>
                  </a:extLst>
                </a:gridCol>
                <a:gridCol w="1626039">
                  <a:extLst>
                    <a:ext uri="{9D8B030D-6E8A-4147-A177-3AD203B41FA5}">
                      <a16:colId xmlns:a16="http://schemas.microsoft.com/office/drawing/2014/main" val="3821767968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Omkar Fulkar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202402093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OSCM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00348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Parmar Manank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202402097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OSCM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36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Shivanshu Singh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202401230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80876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Prasad Gavande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202401173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41361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Saharsha Bartakke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202402126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OSCM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783114"/>
                  </a:ext>
                </a:extLst>
              </a:tr>
            </a:tbl>
          </a:graphicData>
        </a:graphic>
      </p:graphicFrame>
      <p:pic>
        <p:nvPicPr>
          <p:cNvPr id="8" name="Picture 7" descr="Weaving of Pashmina on a Handloom - Cashmere Mania">
            <a:extLst>
              <a:ext uri="{FF2B5EF4-FFF2-40B4-BE49-F238E27FC236}">
                <a16:creationId xmlns:a16="http://schemas.microsoft.com/office/drawing/2014/main" id="{956C7211-61D8-6EE1-1786-0DB11C2F5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16" y="2341686"/>
            <a:ext cx="5416061" cy="387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194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C99CC0-2CCE-A111-1C3D-D883846034B9}"/>
              </a:ext>
            </a:extLst>
          </p:cNvPr>
          <p:cNvSpPr/>
          <p:nvPr/>
        </p:nvSpPr>
        <p:spPr>
          <a:xfrm>
            <a:off x="752092" y="970111"/>
            <a:ext cx="4066149" cy="2613953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043215-18D1-7BA2-D764-8E07EAD3474C}"/>
              </a:ext>
            </a:extLst>
          </p:cNvPr>
          <p:cNvSpPr/>
          <p:nvPr/>
        </p:nvSpPr>
        <p:spPr>
          <a:xfrm>
            <a:off x="1278768" y="1205435"/>
            <a:ext cx="3808413" cy="256913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US" sz="2000" b="1">
                <a:ea typeface="+mn-lt"/>
                <a:cs typeface="+mn-lt"/>
              </a:rPr>
              <a:t>Geographic &amp; Community Overview: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India's highest plateau - </a:t>
            </a:r>
            <a:r>
              <a:rPr lang="en-US" sz="1600" err="1">
                <a:ea typeface="+mn-lt"/>
                <a:cs typeface="+mn-lt"/>
              </a:rPr>
              <a:t>Changthang</a:t>
            </a:r>
            <a:r>
              <a:rPr lang="en-US" sz="1600">
                <a:ea typeface="+mn-lt"/>
                <a:cs typeface="+mn-lt"/>
              </a:rPr>
              <a:t> region, sparsely populated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err="1">
                <a:ea typeface="+mn-lt"/>
                <a:cs typeface="+mn-lt"/>
              </a:rPr>
              <a:t>Changpa</a:t>
            </a:r>
            <a:r>
              <a:rPr lang="en-US" sz="1600">
                <a:ea typeface="+mn-lt"/>
                <a:cs typeface="+mn-lt"/>
              </a:rPr>
              <a:t> community: Nomadic pastoralists rearing </a:t>
            </a:r>
            <a:r>
              <a:rPr lang="en-US" sz="1600" err="1">
                <a:ea typeface="+mn-lt"/>
                <a:cs typeface="+mn-lt"/>
              </a:rPr>
              <a:t>Changra</a:t>
            </a:r>
            <a:r>
              <a:rPr lang="en-US" sz="1600">
                <a:ea typeface="+mn-lt"/>
                <a:cs typeface="+mn-lt"/>
              </a:rPr>
              <a:t> goats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Traditional skills: Women weave/knit, men rear animals</a:t>
            </a:r>
            <a:endParaRPr lang="en-US" sz="1600"/>
          </a:p>
          <a:p>
            <a:endParaRPr lang="en-US" sz="16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960747-1D37-CC84-317A-B3503C9CA9CF}"/>
              </a:ext>
            </a:extLst>
          </p:cNvPr>
          <p:cNvSpPr/>
          <p:nvPr/>
        </p:nvSpPr>
        <p:spPr>
          <a:xfrm>
            <a:off x="6411062" y="970110"/>
            <a:ext cx="4066149" cy="2613953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3236AF-5D6D-654D-ECA7-57EF3D5ADC08}"/>
              </a:ext>
            </a:extLst>
          </p:cNvPr>
          <p:cNvSpPr/>
          <p:nvPr/>
        </p:nvSpPr>
        <p:spPr>
          <a:xfrm>
            <a:off x="6892916" y="1205434"/>
            <a:ext cx="3808413" cy="256913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US" sz="2000" b="1">
                <a:ea typeface="+mn-lt"/>
                <a:cs typeface="+mn-lt"/>
              </a:rPr>
              <a:t>The Precious Fiber: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600" err="1">
                <a:ea typeface="+mn-lt"/>
                <a:cs typeface="+mn-lt"/>
              </a:rPr>
              <a:t>Changra</a:t>
            </a:r>
            <a:r>
              <a:rPr lang="en-US" sz="1600">
                <a:ea typeface="+mn-lt"/>
                <a:cs typeface="+mn-lt"/>
              </a:rPr>
              <a:t> goats yield pashmina ("diamond fiber")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2.5 lakh goats produce &lt;1% global output, but highest quality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Raw pashmina: ₹7,000/kg vs. finished shawl: ₹10,000+</a:t>
            </a:r>
            <a:endParaRPr lang="en-US" sz="1600"/>
          </a:p>
          <a:p>
            <a:endParaRPr lang="en-US" sz="20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ABDA2D-DDD0-E1F3-EC6F-B87A7F2B2B0E}"/>
              </a:ext>
            </a:extLst>
          </p:cNvPr>
          <p:cNvSpPr/>
          <p:nvPr/>
        </p:nvSpPr>
        <p:spPr>
          <a:xfrm>
            <a:off x="3307033" y="4096552"/>
            <a:ext cx="4066149" cy="2288983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9AAC29-DAEA-39A4-D7E0-B17934EFAB01}"/>
              </a:ext>
            </a:extLst>
          </p:cNvPr>
          <p:cNvSpPr/>
          <p:nvPr/>
        </p:nvSpPr>
        <p:spPr>
          <a:xfrm>
            <a:off x="3900945" y="4410317"/>
            <a:ext cx="4043736" cy="199763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ea typeface="+mn-lt"/>
                <a:cs typeface="+mn-lt"/>
              </a:rPr>
              <a:t>The Problem:</a:t>
            </a:r>
            <a:endParaRPr lang="en-US"/>
          </a:p>
          <a:p>
            <a:pPr marL="285750" indent="-285750" algn="ctr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Price fluctuations, middlemen exploitation</a:t>
            </a:r>
            <a:endParaRPr lang="en-US" sz="1600"/>
          </a:p>
          <a:p>
            <a:pPr marL="285750" indent="-285750" algn="ctr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Women have no income source</a:t>
            </a:r>
            <a:endParaRPr lang="en-US" sz="1600"/>
          </a:p>
          <a:p>
            <a:pPr marL="285750" indent="-285750" algn="ctr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Youth migrating due to uncertainties</a:t>
            </a:r>
            <a:endParaRPr lang="en-US" sz="1600"/>
          </a:p>
          <a:p>
            <a:pPr algn="ctr"/>
            <a:endParaRPr lang="en-US" sz="1600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D9C21C-5F93-FC9B-5BC0-32D0D07865B3}"/>
              </a:ext>
            </a:extLst>
          </p:cNvPr>
          <p:cNvSpPr txBox="1"/>
          <p:nvPr/>
        </p:nvSpPr>
        <p:spPr>
          <a:xfrm>
            <a:off x="928949" y="146485"/>
            <a:ext cx="954517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ea typeface="+mn-lt"/>
                <a:cs typeface="+mn-lt"/>
              </a:rPr>
              <a:t>Context - Ladakh &amp; The Pashmina Legacy</a:t>
            </a:r>
            <a:endParaRPr lang="en-US" sz="3200" b="1"/>
          </a:p>
        </p:txBody>
      </p:sp>
    </p:spTree>
    <p:extLst>
      <p:ext uri="{BB962C8B-B14F-4D97-AF65-F5344CB8AC3E}">
        <p14:creationId xmlns:p14="http://schemas.microsoft.com/office/powerpoint/2010/main" val="873123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diagram of a person walking on a path&#10;&#10;AI-generated content may be incorrect.">
            <a:extLst>
              <a:ext uri="{FF2B5EF4-FFF2-40B4-BE49-F238E27FC236}">
                <a16:creationId xmlns:a16="http://schemas.microsoft.com/office/drawing/2014/main" id="{6936689D-BA9A-EEB7-6E69-C01F2FC285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05" r="-1" b="-1"/>
          <a:stretch>
            <a:fillRect/>
          </a:stretch>
        </p:blipFill>
        <p:spPr>
          <a:xfrm>
            <a:off x="20" y="-9301"/>
            <a:ext cx="12191980" cy="686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124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872BEB-8838-EC6B-78F0-41BBC2643471}"/>
              </a:ext>
            </a:extLst>
          </p:cNvPr>
          <p:cNvSpPr txBox="1"/>
          <p:nvPr/>
        </p:nvSpPr>
        <p:spPr>
          <a:xfrm>
            <a:off x="2194596" y="269365"/>
            <a:ext cx="779104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ea typeface="+mn-lt"/>
                <a:cs typeface="+mn-lt"/>
              </a:rPr>
              <a:t>Business Model &amp; Product Portfolio</a:t>
            </a:r>
            <a:endParaRPr lang="en-US" sz="3200" b="1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19A1FA1-BB42-AE78-7AC7-A12970BDE21E}"/>
              </a:ext>
            </a:extLst>
          </p:cNvPr>
          <p:cNvSpPr/>
          <p:nvPr/>
        </p:nvSpPr>
        <p:spPr>
          <a:xfrm>
            <a:off x="4472430" y="2423964"/>
            <a:ext cx="2692653" cy="258702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316ACAB-6909-9AF8-429A-791ACB2356B1}"/>
              </a:ext>
            </a:extLst>
          </p:cNvPr>
          <p:cNvSpPr/>
          <p:nvPr/>
        </p:nvSpPr>
        <p:spPr>
          <a:xfrm>
            <a:off x="3616645" y="1708855"/>
            <a:ext cx="2059607" cy="1953979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8DDA07C-E903-534D-3344-32373468D942}"/>
              </a:ext>
            </a:extLst>
          </p:cNvPr>
          <p:cNvSpPr/>
          <p:nvPr/>
        </p:nvSpPr>
        <p:spPr>
          <a:xfrm>
            <a:off x="6090213" y="1708854"/>
            <a:ext cx="2059607" cy="1953979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D1EA355-7474-1CBA-1A7E-4FCA597723DE}"/>
              </a:ext>
            </a:extLst>
          </p:cNvPr>
          <p:cNvSpPr/>
          <p:nvPr/>
        </p:nvSpPr>
        <p:spPr>
          <a:xfrm>
            <a:off x="4788952" y="4229316"/>
            <a:ext cx="2059607" cy="1953979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Shopping cart with solid fill">
            <a:extLst>
              <a:ext uri="{FF2B5EF4-FFF2-40B4-BE49-F238E27FC236}">
                <a16:creationId xmlns:a16="http://schemas.microsoft.com/office/drawing/2014/main" id="{85ADC5DF-B626-CAF9-8686-A78F502F32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5138" y="2221523"/>
            <a:ext cx="914400" cy="914400"/>
          </a:xfrm>
          <a:prstGeom prst="rect">
            <a:avLst/>
          </a:prstGeom>
        </p:spPr>
      </p:pic>
      <p:pic>
        <p:nvPicPr>
          <p:cNvPr id="9" name="Graphic 8" descr="Rainforest with solid fill">
            <a:extLst>
              <a:ext uri="{FF2B5EF4-FFF2-40B4-BE49-F238E27FC236}">
                <a16:creationId xmlns:a16="http://schemas.microsoft.com/office/drawing/2014/main" id="{FF063061-971C-763E-008E-6C2D0EECB8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63633" y="4749800"/>
            <a:ext cx="914400" cy="914400"/>
          </a:xfrm>
          <a:prstGeom prst="rect">
            <a:avLst/>
          </a:prstGeom>
        </p:spPr>
      </p:pic>
      <p:pic>
        <p:nvPicPr>
          <p:cNvPr id="10" name="Graphic 9" descr="Advertising with solid fill">
            <a:extLst>
              <a:ext uri="{FF2B5EF4-FFF2-40B4-BE49-F238E27FC236}">
                <a16:creationId xmlns:a16="http://schemas.microsoft.com/office/drawing/2014/main" id="{DD548BDB-3ECC-9371-C2DA-20683D76F9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07717" y="2230967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5AE03BE-A851-3D86-A5AD-03B673E7473D}"/>
              </a:ext>
            </a:extLst>
          </p:cNvPr>
          <p:cNvSpPr txBox="1"/>
          <p:nvPr/>
        </p:nvSpPr>
        <p:spPr>
          <a:xfrm>
            <a:off x="476250" y="2127250"/>
            <a:ext cx="314325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B2B:</a:t>
            </a:r>
            <a:r>
              <a:rPr lang="en-US">
                <a:ea typeface="+mn-lt"/>
                <a:cs typeface="+mn-lt"/>
              </a:rPr>
              <a:t> Top fashion designers &amp; their platforms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B2C:</a:t>
            </a:r>
            <a:r>
              <a:rPr lang="en-US">
                <a:ea typeface="+mn-lt"/>
                <a:cs typeface="+mn-lt"/>
              </a:rPr>
              <a:t> Flagship store at Leh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E-commerce:</a:t>
            </a:r>
            <a:r>
              <a:rPr lang="en-US">
                <a:ea typeface="+mn-lt"/>
                <a:cs typeface="+mn-lt"/>
              </a:rPr>
              <a:t> Own website + partnerships (</a:t>
            </a:r>
            <a:r>
              <a:rPr lang="en-US" err="1">
                <a:ea typeface="+mn-lt"/>
                <a:cs typeface="+mn-lt"/>
              </a:rPr>
              <a:t>Okhai</a:t>
            </a:r>
            <a:r>
              <a:rPr lang="en-US">
                <a:ea typeface="+mn-lt"/>
                <a:cs typeface="+mn-lt"/>
              </a:rPr>
              <a:t>)</a:t>
            </a:r>
            <a:endParaRPr lang="en-US"/>
          </a:p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7AE53-B8D7-C9C0-045F-0B9228B3BDCF}"/>
              </a:ext>
            </a:extLst>
          </p:cNvPr>
          <p:cNvSpPr txBox="1"/>
          <p:nvPr/>
        </p:nvSpPr>
        <p:spPr>
          <a:xfrm>
            <a:off x="635000" y="1714499"/>
            <a:ext cx="282575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Market channels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357112-0368-8804-D673-EDF5F1BDF409}"/>
              </a:ext>
            </a:extLst>
          </p:cNvPr>
          <p:cNvSpPr txBox="1"/>
          <p:nvPr/>
        </p:nvSpPr>
        <p:spPr>
          <a:xfrm>
            <a:off x="8149167" y="1682750"/>
            <a:ext cx="2889250" cy="2339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Product Range:</a:t>
            </a:r>
          </a:p>
          <a:p>
            <a:endParaRPr lang="en-US" b="1"/>
          </a:p>
          <a:p>
            <a:pPr>
              <a:buFont typeface=""/>
              <a:buChar char="•"/>
            </a:pPr>
            <a:r>
              <a:rPr lang="en-US" b="1"/>
              <a:t>Woven:</a:t>
            </a:r>
            <a:r>
              <a:rPr lang="en-US"/>
              <a:t> Shawls, Stoles,</a:t>
            </a:r>
          </a:p>
          <a:p>
            <a:r>
              <a:rPr lang="en-US"/>
              <a:t>scarves</a:t>
            </a:r>
          </a:p>
          <a:p>
            <a:pPr>
              <a:buFont typeface=""/>
              <a:buChar char="•"/>
            </a:pPr>
            <a:r>
              <a:rPr lang="en-US" b="1"/>
              <a:t>Knitted:</a:t>
            </a:r>
            <a:r>
              <a:rPr lang="en-US"/>
              <a:t> Sweaters, Mufflers,</a:t>
            </a:r>
          </a:p>
          <a:p>
            <a:r>
              <a:rPr lang="en-US"/>
              <a:t> </a:t>
            </a:r>
            <a:r>
              <a:rPr lang="en-US" err="1"/>
              <a:t>Caps,Gloves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F32318-8A6B-B936-406F-409A79AD5562}"/>
              </a:ext>
            </a:extLst>
          </p:cNvPr>
          <p:cNvSpPr txBox="1"/>
          <p:nvPr/>
        </p:nvSpPr>
        <p:spPr>
          <a:xfrm>
            <a:off x="1809750" y="5207000"/>
            <a:ext cx="36195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Sustainability Approach</a:t>
            </a:r>
            <a:endParaRPr lang="en-US" sz="2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CD5A82-7E26-0F2B-3B6F-40A1A0FBCBD5}"/>
              </a:ext>
            </a:extLst>
          </p:cNvPr>
          <p:cNvSpPr txBox="1"/>
          <p:nvPr/>
        </p:nvSpPr>
        <p:spPr>
          <a:xfrm>
            <a:off x="6942667" y="4984750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/>
              <a:t>Utilize all Ladakh fibers: pashmina, sheep, yak,</a:t>
            </a:r>
          </a:p>
          <a:p>
            <a:r>
              <a:rPr lang="en-US"/>
              <a:t> Bactrian camel</a:t>
            </a:r>
          </a:p>
          <a:p>
            <a:pPr>
              <a:buFont typeface=""/>
              <a:buChar char="•"/>
            </a:pPr>
            <a:r>
              <a:rPr lang="en-US"/>
              <a:t>Balance ecology, culture, and economy</a:t>
            </a:r>
          </a:p>
          <a:p>
            <a:pPr algn="ctr"/>
            <a:endParaRPr lang="en-US"/>
          </a:p>
        </p:txBody>
      </p:sp>
      <p:pic>
        <p:nvPicPr>
          <p:cNvPr id="16" name="Graphic 15" descr="User network with solid fill">
            <a:extLst>
              <a:ext uri="{FF2B5EF4-FFF2-40B4-BE49-F238E27FC236}">
                <a16:creationId xmlns:a16="http://schemas.microsoft.com/office/drawing/2014/main" id="{FC064FF4-12F2-CB85-6E1C-5BCD1D6527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27133" y="321521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881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Single gear with solid fill">
            <a:extLst>
              <a:ext uri="{FF2B5EF4-FFF2-40B4-BE49-F238E27FC236}">
                <a16:creationId xmlns:a16="http://schemas.microsoft.com/office/drawing/2014/main" id="{6E50E298-F194-C9BC-1ABC-AEC981C74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1" y="2419350"/>
            <a:ext cx="1697566" cy="1697566"/>
          </a:xfrm>
          <a:prstGeom prst="rect">
            <a:avLst/>
          </a:prstGeom>
        </p:spPr>
      </p:pic>
      <p:pic>
        <p:nvPicPr>
          <p:cNvPr id="5" name="Graphic 4" descr="Single gear with solid fill">
            <a:extLst>
              <a:ext uri="{FF2B5EF4-FFF2-40B4-BE49-F238E27FC236}">
                <a16:creationId xmlns:a16="http://schemas.microsoft.com/office/drawing/2014/main" id="{F3985978-7E7F-50E8-AF57-6B3E85EC2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821" y="3424766"/>
            <a:ext cx="1697566" cy="1697566"/>
          </a:xfrm>
          <a:prstGeom prst="rect">
            <a:avLst/>
          </a:prstGeom>
        </p:spPr>
      </p:pic>
      <p:pic>
        <p:nvPicPr>
          <p:cNvPr id="6" name="Graphic 5" descr="Single gear with solid fill">
            <a:extLst>
              <a:ext uri="{FF2B5EF4-FFF2-40B4-BE49-F238E27FC236}">
                <a16:creationId xmlns:a16="http://schemas.microsoft.com/office/drawing/2014/main" id="{F2A503B8-D46B-1A9A-22F7-4716A7F6D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03488" y="3541183"/>
            <a:ext cx="1697566" cy="1697566"/>
          </a:xfrm>
          <a:prstGeom prst="rect">
            <a:avLst/>
          </a:prstGeom>
        </p:spPr>
      </p:pic>
      <p:pic>
        <p:nvPicPr>
          <p:cNvPr id="7" name="Graphic 6" descr="Single gear with solid fill">
            <a:extLst>
              <a:ext uri="{FF2B5EF4-FFF2-40B4-BE49-F238E27FC236}">
                <a16:creationId xmlns:a16="http://schemas.microsoft.com/office/drawing/2014/main" id="{3230DC12-924B-AE8E-BCE8-E8D4FB668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6987" y="2419350"/>
            <a:ext cx="1697566" cy="1697566"/>
          </a:xfrm>
          <a:prstGeom prst="rect">
            <a:avLst/>
          </a:prstGeom>
        </p:spPr>
      </p:pic>
      <p:pic>
        <p:nvPicPr>
          <p:cNvPr id="8" name="Graphic 7" descr="Single gear with solid fill">
            <a:extLst>
              <a:ext uri="{FF2B5EF4-FFF2-40B4-BE49-F238E27FC236}">
                <a16:creationId xmlns:a16="http://schemas.microsoft.com/office/drawing/2014/main" id="{BC8B124C-64F8-0FE5-1426-3B8B39D66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8654" y="2419349"/>
            <a:ext cx="1697566" cy="1697566"/>
          </a:xfrm>
          <a:prstGeom prst="rect">
            <a:avLst/>
          </a:prstGeom>
        </p:spPr>
      </p:pic>
      <p:pic>
        <p:nvPicPr>
          <p:cNvPr id="9" name="Graphic 8" descr="Single gear with solid fill">
            <a:extLst>
              <a:ext uri="{FF2B5EF4-FFF2-40B4-BE49-F238E27FC236}">
                <a16:creationId xmlns:a16="http://schemas.microsoft.com/office/drawing/2014/main" id="{74FFBBF3-B8BB-7599-2A70-7F90DF229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1487" y="3541182"/>
            <a:ext cx="1697566" cy="1697566"/>
          </a:xfrm>
          <a:prstGeom prst="rect">
            <a:avLst/>
          </a:prstGeom>
        </p:spPr>
      </p:pic>
      <p:pic>
        <p:nvPicPr>
          <p:cNvPr id="10" name="Graphic 9" descr="Single gear with solid fill">
            <a:extLst>
              <a:ext uri="{FF2B5EF4-FFF2-40B4-BE49-F238E27FC236}">
                <a16:creationId xmlns:a16="http://schemas.microsoft.com/office/drawing/2014/main" id="{9AD17BF1-9BFA-DEFC-9637-3295AD3D0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8404" y="3541183"/>
            <a:ext cx="1697566" cy="1697566"/>
          </a:xfrm>
          <a:prstGeom prst="rect">
            <a:avLst/>
          </a:prstGeom>
        </p:spPr>
      </p:pic>
      <p:pic>
        <p:nvPicPr>
          <p:cNvPr id="11" name="Graphic 10" descr="Single gear with solid fill">
            <a:extLst>
              <a:ext uri="{FF2B5EF4-FFF2-40B4-BE49-F238E27FC236}">
                <a16:creationId xmlns:a16="http://schemas.microsoft.com/office/drawing/2014/main" id="{D2408BE1-F1DE-9D05-BC8B-CDC1293C2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4320" y="2419349"/>
            <a:ext cx="1697566" cy="16975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9AA72A-792B-BDB3-EDAD-E61ABB34BBAC}"/>
              </a:ext>
            </a:extLst>
          </p:cNvPr>
          <p:cNvSpPr txBox="1"/>
          <p:nvPr/>
        </p:nvSpPr>
        <p:spPr>
          <a:xfrm>
            <a:off x="0" y="1555750"/>
            <a:ext cx="239183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Shearing</a:t>
            </a:r>
            <a:r>
              <a:rPr lang="en-US"/>
              <a:t> (Spring) </a:t>
            </a:r>
          </a:p>
          <a:p>
            <a:r>
              <a:rPr lang="en-US"/>
              <a:t> 200-400g per goat</a:t>
            </a:r>
          </a:p>
          <a:p>
            <a:r>
              <a:rPr lang="en-US"/>
              <a:t>       annually</a:t>
            </a:r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2C044B-9E78-42B7-0A5B-422438D1C868}"/>
              </a:ext>
            </a:extLst>
          </p:cNvPr>
          <p:cNvSpPr txBox="1"/>
          <p:nvPr/>
        </p:nvSpPr>
        <p:spPr>
          <a:xfrm>
            <a:off x="1047750" y="4910667"/>
            <a:ext cx="221191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Washing &amp; Drying</a:t>
            </a:r>
            <a:r>
              <a:rPr lang="en-US"/>
              <a:t> </a:t>
            </a:r>
          </a:p>
          <a:p>
            <a:r>
              <a:rPr lang="en-US"/>
              <a:t>      Collection &amp; </a:t>
            </a:r>
          </a:p>
          <a:p>
            <a:r>
              <a:rPr lang="en-US"/>
              <a:t>      preparation</a:t>
            </a:r>
          </a:p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ED0AE5-CCEA-07AC-25D9-3E09F9134497}"/>
              </a:ext>
            </a:extLst>
          </p:cNvPr>
          <p:cNvSpPr txBox="1"/>
          <p:nvPr/>
        </p:nvSpPr>
        <p:spPr>
          <a:xfrm>
            <a:off x="2794001" y="1555750"/>
            <a:ext cx="186266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    Sorting</a:t>
            </a:r>
            <a:r>
              <a:rPr lang="en-US"/>
              <a:t> </a:t>
            </a:r>
          </a:p>
          <a:p>
            <a:r>
              <a:rPr lang="en-US"/>
              <a:t>Separate fine </a:t>
            </a:r>
          </a:p>
          <a:p>
            <a:r>
              <a:rPr lang="en-US"/>
              <a:t>fiber (&lt;1 micron)</a:t>
            </a:r>
          </a:p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7A39B6-221D-10A1-C2E7-3BD89F53BBDE}"/>
              </a:ext>
            </a:extLst>
          </p:cNvPr>
          <p:cNvSpPr txBox="1"/>
          <p:nvPr/>
        </p:nvSpPr>
        <p:spPr>
          <a:xfrm>
            <a:off x="3799417" y="4910667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   Spinning</a:t>
            </a:r>
            <a:r>
              <a:rPr lang="en-US"/>
              <a:t> </a:t>
            </a:r>
          </a:p>
          <a:p>
            <a:r>
              <a:rPr lang="en-US"/>
              <a:t>Traditional charkha</a:t>
            </a:r>
          </a:p>
          <a:p>
            <a:r>
              <a:rPr lang="en-US"/>
              <a:t>converts to yarn</a:t>
            </a:r>
          </a:p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E03501-4F00-19DC-2106-DA24974C369F}"/>
              </a:ext>
            </a:extLst>
          </p:cNvPr>
          <p:cNvSpPr txBox="1"/>
          <p:nvPr/>
        </p:nvSpPr>
        <p:spPr>
          <a:xfrm>
            <a:off x="5672667" y="1555750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Plying</a:t>
            </a:r>
            <a:r>
              <a:rPr lang="en-US"/>
              <a:t> </a:t>
            </a:r>
          </a:p>
          <a:p>
            <a:r>
              <a:rPr lang="en-US"/>
              <a:t>Single or </a:t>
            </a:r>
          </a:p>
          <a:p>
            <a:r>
              <a:rPr lang="en-US"/>
              <a:t>twin yarn</a:t>
            </a:r>
          </a:p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90573-638A-DFA2-EDDC-D950C04B527A}"/>
              </a:ext>
            </a:extLst>
          </p:cNvPr>
          <p:cNvSpPr txBox="1"/>
          <p:nvPr/>
        </p:nvSpPr>
        <p:spPr>
          <a:xfrm>
            <a:off x="6847417" y="4910667"/>
            <a:ext cx="245533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        Dyeing</a:t>
            </a:r>
            <a:r>
              <a:rPr lang="en-US"/>
              <a:t> </a:t>
            </a:r>
          </a:p>
          <a:p>
            <a:r>
              <a:rPr lang="en-US"/>
              <a:t>60% dyed (outsourced)</a:t>
            </a:r>
          </a:p>
          <a:p>
            <a:r>
              <a:rPr lang="en-US"/>
              <a:t>,40% natural</a:t>
            </a:r>
          </a:p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CB2B0B-1C74-59A0-ADA2-62D0E8739512}"/>
              </a:ext>
            </a:extLst>
          </p:cNvPr>
          <p:cNvSpPr txBox="1"/>
          <p:nvPr/>
        </p:nvSpPr>
        <p:spPr>
          <a:xfrm>
            <a:off x="7958667" y="1555750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      Weaving/Knitting</a:t>
            </a:r>
            <a:r>
              <a:rPr lang="en-US"/>
              <a:t> </a:t>
            </a:r>
          </a:p>
          <a:p>
            <a:r>
              <a:rPr lang="en-US"/>
              <a:t>            Based on </a:t>
            </a:r>
          </a:p>
          <a:p>
            <a:r>
              <a:rPr lang="en-US"/>
              <a:t>         product type</a:t>
            </a:r>
          </a:p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6E3EFE-2FE0-4A25-EB9F-2F71F0CFFE85}"/>
              </a:ext>
            </a:extLst>
          </p:cNvPr>
          <p:cNvSpPr txBox="1"/>
          <p:nvPr/>
        </p:nvSpPr>
        <p:spPr>
          <a:xfrm>
            <a:off x="9927166" y="4910667"/>
            <a:ext cx="216958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  Finishing</a:t>
            </a:r>
            <a:r>
              <a:rPr lang="en-US"/>
              <a:t> </a:t>
            </a:r>
          </a:p>
          <a:p>
            <a:r>
              <a:rPr lang="en-US"/>
              <a:t>Sale-ready products</a:t>
            </a:r>
          </a:p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068B0D-065A-D22C-9B93-F0046B085964}"/>
              </a:ext>
            </a:extLst>
          </p:cNvPr>
          <p:cNvSpPr txBox="1"/>
          <p:nvPr/>
        </p:nvSpPr>
        <p:spPr>
          <a:xfrm>
            <a:off x="1428750" y="412750"/>
            <a:ext cx="77597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ea typeface="+mn-lt"/>
                <a:cs typeface="+mn-lt"/>
              </a:rPr>
              <a:t>Production Process - Farm to Fashion</a:t>
            </a:r>
            <a:endParaRPr lang="en-US" sz="3200" b="1"/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8DB4DDD0-A7A1-E053-289B-007C88868B8C}"/>
              </a:ext>
            </a:extLst>
          </p:cNvPr>
          <p:cNvSpPr/>
          <p:nvPr/>
        </p:nvSpPr>
        <p:spPr>
          <a:xfrm>
            <a:off x="539750" y="6032499"/>
            <a:ext cx="10699750" cy="428625"/>
          </a:xfrm>
          <a:prstGeom prst="homePlat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The entire process</a:t>
            </a:r>
          </a:p>
        </p:txBody>
      </p:sp>
    </p:spTree>
    <p:extLst>
      <p:ext uri="{BB962C8B-B14F-4D97-AF65-F5344CB8AC3E}">
        <p14:creationId xmlns:p14="http://schemas.microsoft.com/office/powerpoint/2010/main" val="3910098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F9EA8B7-B049-5E86-6DBB-EEACCC3CFD35}"/>
              </a:ext>
            </a:extLst>
          </p:cNvPr>
          <p:cNvSpPr/>
          <p:nvPr/>
        </p:nvSpPr>
        <p:spPr>
          <a:xfrm>
            <a:off x="7484990" y="1295400"/>
            <a:ext cx="4260695" cy="5197475"/>
          </a:xfrm>
          <a:prstGeom prst="roundRect">
            <a:avLst>
              <a:gd name="adj" fmla="val 331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4BF14F-C3EE-0FFB-B489-AF50D92B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5" y="114102"/>
            <a:ext cx="10515600" cy="1325563"/>
          </a:xfrm>
        </p:spPr>
        <p:txBody>
          <a:bodyPr/>
          <a:lstStyle/>
          <a:p>
            <a:r>
              <a:rPr lang="en-IN"/>
              <a:t>Resource &amp; Cost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782C54-153B-5DA7-F4F7-48F855D529A2}"/>
              </a:ext>
            </a:extLst>
          </p:cNvPr>
          <p:cNvSpPr txBox="1"/>
          <p:nvPr/>
        </p:nvSpPr>
        <p:spPr>
          <a:xfrm>
            <a:off x="359220" y="1612844"/>
            <a:ext cx="4891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Raw Material Requirements (grams/product):</a:t>
            </a:r>
            <a:endParaRPr lang="en-IN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AB1608-721B-AA28-7EF6-84267543D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557374"/>
              </p:ext>
            </p:extLst>
          </p:nvPr>
        </p:nvGraphicFramePr>
        <p:xfrm>
          <a:off x="4602941" y="2177465"/>
          <a:ext cx="2049390" cy="150182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24695">
                  <a:extLst>
                    <a:ext uri="{9D8B030D-6E8A-4147-A177-3AD203B41FA5}">
                      <a16:colId xmlns:a16="http://schemas.microsoft.com/office/drawing/2014/main" val="2042488307"/>
                    </a:ext>
                  </a:extLst>
                </a:gridCol>
                <a:gridCol w="1024695">
                  <a:extLst>
                    <a:ext uri="{9D8B030D-6E8A-4147-A177-3AD203B41FA5}">
                      <a16:colId xmlns:a16="http://schemas.microsoft.com/office/drawing/2014/main" val="363648632"/>
                    </a:ext>
                  </a:extLst>
                </a:gridCol>
              </a:tblGrid>
              <a:tr h="5952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Woven Product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Grams (Woven)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09560901"/>
                  </a:ext>
                </a:extLst>
              </a:tr>
              <a:tr h="3021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Shawl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510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61276358"/>
                  </a:ext>
                </a:extLst>
              </a:tr>
              <a:tr h="3021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Stole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390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93337985"/>
                  </a:ext>
                </a:extLst>
              </a:tr>
              <a:tr h="3021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Scarf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210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4225446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0371257-43DA-22F4-B60D-3A473FF24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057493"/>
              </p:ext>
            </p:extLst>
          </p:nvPr>
        </p:nvGraphicFramePr>
        <p:xfrm>
          <a:off x="997410" y="2177465"/>
          <a:ext cx="2932502" cy="15011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46374">
                  <a:extLst>
                    <a:ext uri="{9D8B030D-6E8A-4147-A177-3AD203B41FA5}">
                      <a16:colId xmlns:a16="http://schemas.microsoft.com/office/drawing/2014/main" val="2324411475"/>
                    </a:ext>
                  </a:extLst>
                </a:gridCol>
                <a:gridCol w="1386128">
                  <a:extLst>
                    <a:ext uri="{9D8B030D-6E8A-4147-A177-3AD203B41FA5}">
                      <a16:colId xmlns:a16="http://schemas.microsoft.com/office/drawing/2014/main" val="2495570413"/>
                    </a:ext>
                  </a:extLst>
                </a:gridCol>
              </a:tblGrid>
              <a:tr h="48905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600" b="1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Knitted Product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Grams (Knitted)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29257400"/>
                  </a:ext>
                </a:extLst>
              </a:tr>
              <a:tr h="24452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Sweater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320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60314599"/>
                  </a:ext>
                </a:extLst>
              </a:tr>
              <a:tr h="24452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Muffler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175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43091855"/>
                  </a:ext>
                </a:extLst>
              </a:tr>
              <a:tr h="24452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75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22514208"/>
                  </a:ext>
                </a:extLst>
              </a:tr>
              <a:tr h="24452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6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Gloves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73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0814480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DA18873-1C58-DFCC-AF1C-AF77EF73F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518092"/>
              </p:ext>
            </p:extLst>
          </p:nvPr>
        </p:nvGraphicFramePr>
        <p:xfrm>
          <a:off x="688410" y="5082799"/>
          <a:ext cx="6197599" cy="107321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54127">
                  <a:extLst>
                    <a:ext uri="{9D8B030D-6E8A-4147-A177-3AD203B41FA5}">
                      <a16:colId xmlns:a16="http://schemas.microsoft.com/office/drawing/2014/main" val="2282395019"/>
                    </a:ext>
                  </a:extLst>
                </a:gridCol>
                <a:gridCol w="1921736">
                  <a:extLst>
                    <a:ext uri="{9D8B030D-6E8A-4147-A177-3AD203B41FA5}">
                      <a16:colId xmlns:a16="http://schemas.microsoft.com/office/drawing/2014/main" val="2020864276"/>
                    </a:ext>
                  </a:extLst>
                </a:gridCol>
                <a:gridCol w="1921736">
                  <a:extLst>
                    <a:ext uri="{9D8B030D-6E8A-4147-A177-3AD203B41FA5}">
                      <a16:colId xmlns:a16="http://schemas.microsoft.com/office/drawing/2014/main" val="2896673835"/>
                    </a:ext>
                  </a:extLst>
                </a:gridCol>
              </a:tblGrid>
              <a:tr h="4422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Process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Woven (g/person/day)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Knitted (g/person/day)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91960451"/>
                  </a:ext>
                </a:extLst>
              </a:tr>
              <a:tr h="2889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Spinning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21.5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37.5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10068827"/>
                  </a:ext>
                </a:extLst>
              </a:tr>
              <a:tr h="2889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Weaving / Knitting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500 (Weaving)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50 (Knitting)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6027181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8897B7B-D7E3-A8F5-301C-3AA6A6209A05}"/>
              </a:ext>
            </a:extLst>
          </p:cNvPr>
          <p:cNvSpPr txBox="1"/>
          <p:nvPr/>
        </p:nvSpPr>
        <p:spPr>
          <a:xfrm>
            <a:off x="359220" y="4540287"/>
            <a:ext cx="5006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Daily Production Capacity (grams/person/day)</a:t>
            </a:r>
            <a:endParaRPr lang="en-IN" b="1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5ED4285-10C8-C3C7-3172-A69998968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472" y="984179"/>
            <a:ext cx="4117730" cy="587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96BF3C8-C03E-EDD6-1EFD-D98E1E90C170}"/>
              </a:ext>
            </a:extLst>
          </p:cNvPr>
          <p:cNvSpPr/>
          <p:nvPr/>
        </p:nvSpPr>
        <p:spPr>
          <a:xfrm>
            <a:off x="249060" y="1362810"/>
            <a:ext cx="7076300" cy="2728514"/>
          </a:xfrm>
          <a:prstGeom prst="roundRect">
            <a:avLst>
              <a:gd name="adj" fmla="val 549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AC8CFE3-B6BD-D2AE-60F4-7A63945E0A40}"/>
              </a:ext>
            </a:extLst>
          </p:cNvPr>
          <p:cNvSpPr/>
          <p:nvPr/>
        </p:nvSpPr>
        <p:spPr>
          <a:xfrm>
            <a:off x="249060" y="4264504"/>
            <a:ext cx="7076300" cy="2228371"/>
          </a:xfrm>
          <a:prstGeom prst="roundRect">
            <a:avLst>
              <a:gd name="adj" fmla="val 549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CAE1DB5-7E72-E20B-5643-D82CFFD1A805}"/>
              </a:ext>
            </a:extLst>
          </p:cNvPr>
          <p:cNvSpPr/>
          <p:nvPr/>
        </p:nvSpPr>
        <p:spPr>
          <a:xfrm>
            <a:off x="258547" y="248625"/>
            <a:ext cx="11487137" cy="941006"/>
          </a:xfrm>
          <a:prstGeom prst="roundRect">
            <a:avLst>
              <a:gd name="adj" fmla="val 549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765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67827-D4B3-A19B-013B-1DAED1B89189}"/>
              </a:ext>
            </a:extLst>
          </p:cNvPr>
          <p:cNvSpPr txBox="1">
            <a:spLocks/>
          </p:cNvSpPr>
          <p:nvPr/>
        </p:nvSpPr>
        <p:spPr>
          <a:xfrm>
            <a:off x="425995" y="581463"/>
            <a:ext cx="10515600" cy="65805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LINEAR PROGRAMMING FORMULATION</a:t>
            </a: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9C344C-1588-DE93-0066-220B1DF686A2}"/>
              </a:ext>
            </a:extLst>
          </p:cNvPr>
          <p:cNvSpPr txBox="1"/>
          <p:nvPr/>
        </p:nvSpPr>
        <p:spPr>
          <a:xfrm>
            <a:off x="338900" y="3192799"/>
            <a:ext cx="2508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DECISION VARIABLES </a:t>
            </a:r>
            <a:endParaRPr lang="en-IN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B37D6C-2E7D-1B37-408F-B6BF79BA50CD}"/>
                  </a:ext>
                </a:extLst>
              </p:cNvPr>
              <p:cNvSpPr txBox="1"/>
              <p:nvPr/>
            </p:nvSpPr>
            <p:spPr>
              <a:xfrm>
                <a:off x="573349" y="3562131"/>
                <a:ext cx="4424737" cy="28623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Xi​ = number of units produced of product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/>
                  <a:t> ∈ {1,2,3,4,5,6,7}</a:t>
                </a:r>
              </a:p>
              <a:p>
                <a:r>
                  <a:rPr lang="en-IN"/>
                  <a:t>Where, </a:t>
                </a:r>
              </a:p>
              <a:p>
                <a:r>
                  <a:rPr lang="en-US"/>
                  <a:t>	1 = Shawl, </a:t>
                </a:r>
              </a:p>
              <a:p>
                <a:r>
                  <a:rPr lang="en-US"/>
                  <a:t>	2 = Stole, </a:t>
                </a:r>
              </a:p>
              <a:p>
                <a:r>
                  <a:rPr lang="en-US"/>
                  <a:t>	3 = Scarf, </a:t>
                </a:r>
              </a:p>
              <a:p>
                <a:r>
                  <a:rPr lang="en-US"/>
                  <a:t>	4 = Sweater,</a:t>
                </a:r>
              </a:p>
              <a:p>
                <a:r>
                  <a:rPr lang="en-US"/>
                  <a:t> 	5 = Muffler, </a:t>
                </a:r>
              </a:p>
              <a:p>
                <a:r>
                  <a:rPr lang="en-US"/>
                  <a:t>	6 = Cap, </a:t>
                </a:r>
              </a:p>
              <a:p>
                <a:r>
                  <a:rPr lang="en-US"/>
                  <a:t>	7 = Gloves.</a:t>
                </a:r>
                <a:endParaRPr lang="en-IN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B37D6C-2E7D-1B37-408F-B6BF79BA5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49" y="3562131"/>
                <a:ext cx="4424737" cy="2862322"/>
              </a:xfrm>
              <a:prstGeom prst="rect">
                <a:avLst/>
              </a:prstGeom>
              <a:blipFill>
                <a:blip r:embed="rId3"/>
                <a:stretch>
                  <a:fillRect l="-1102" t="-1277" r="-275" b="-2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CED8DD2-B5A5-4E69-F690-86C7830B18A9}"/>
              </a:ext>
            </a:extLst>
          </p:cNvPr>
          <p:cNvSpPr txBox="1"/>
          <p:nvPr/>
        </p:nvSpPr>
        <p:spPr>
          <a:xfrm>
            <a:off x="338900" y="1672525"/>
            <a:ext cx="2509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OBJECTIVE FUNCTION</a:t>
            </a:r>
            <a:endParaRPr lang="en-IN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7E0C30-C1A4-897F-3656-6306FDFE091C}"/>
              </a:ext>
            </a:extLst>
          </p:cNvPr>
          <p:cNvSpPr txBox="1"/>
          <p:nvPr/>
        </p:nvSpPr>
        <p:spPr>
          <a:xfrm>
            <a:off x="1111829" y="2167527"/>
            <a:ext cx="892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Z = 4319.292 </a:t>
            </a:r>
            <a:r>
              <a:rPr lang="en-IN"/>
              <a:t>X₁ </a:t>
            </a:r>
            <a:r>
              <a:rPr lang="en-US"/>
              <a:t>+ 3367.338</a:t>
            </a:r>
            <a:r>
              <a:rPr lang="en-IN"/>
              <a:t> X₂</a:t>
            </a:r>
            <a:r>
              <a:rPr lang="en-US"/>
              <a:t> + 1940.232 </a:t>
            </a:r>
            <a:r>
              <a:rPr lang="en-IN"/>
              <a:t>X₃ </a:t>
            </a:r>
            <a:r>
              <a:rPr lang="en-US"/>
              <a:t>+ 2940 </a:t>
            </a:r>
            <a:r>
              <a:rPr lang="en-IN"/>
              <a:t>X₄</a:t>
            </a:r>
            <a:r>
              <a:rPr lang="en-US"/>
              <a:t> + 1616.86 </a:t>
            </a:r>
            <a:r>
              <a:rPr lang="en-IN"/>
              <a:t>X₅</a:t>
            </a:r>
            <a:r>
              <a:rPr lang="en-US"/>
              <a:t> + 554.3 </a:t>
            </a:r>
            <a:r>
              <a:rPr lang="en-IN"/>
              <a:t>X₆</a:t>
            </a:r>
            <a:r>
              <a:rPr lang="en-US"/>
              <a:t> + 539.62 </a:t>
            </a:r>
            <a:r>
              <a:rPr lang="en-IN"/>
              <a:t>X₇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953CC6-4FC7-A6D4-1AD8-F16523B0CE40}"/>
              </a:ext>
            </a:extLst>
          </p:cNvPr>
          <p:cNvSpPr txBox="1"/>
          <p:nvPr/>
        </p:nvSpPr>
        <p:spPr>
          <a:xfrm>
            <a:off x="6348690" y="3266241"/>
            <a:ext cx="5913504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Raw Material Constraints</a:t>
            </a:r>
          </a:p>
          <a:p>
            <a:r>
              <a:rPr lang="en-IN"/>
              <a:t>Woven Products (15,000 grams available):</a:t>
            </a:r>
          </a:p>
          <a:p>
            <a:r>
              <a:rPr lang="en-IN"/>
              <a:t>510·X₁ + 390·X₂ + 210·X₃ ≤ 15,000</a:t>
            </a:r>
          </a:p>
          <a:p>
            <a:endParaRPr lang="en-IN" sz="100"/>
          </a:p>
          <a:p>
            <a:r>
              <a:rPr lang="en-IN"/>
              <a:t>Knitted Products (23,000 grams available):</a:t>
            </a:r>
          </a:p>
          <a:p>
            <a:r>
              <a:rPr lang="en-IN"/>
              <a:t>320·X₄ + 175·X₅ + 75·X₆ + 73·X₇ ≤ 23,000</a:t>
            </a:r>
          </a:p>
          <a:p>
            <a:endParaRPr lang="en-IN"/>
          </a:p>
          <a:p>
            <a:r>
              <a:rPr lang="en-IN"/>
              <a:t>Minimum SKU Constraints (</a:t>
            </a:r>
            <a:r>
              <a:rPr lang="en-IN" err="1"/>
              <a:t>Okhai</a:t>
            </a:r>
            <a:r>
              <a:rPr lang="en-IN"/>
              <a:t> Launch)</a:t>
            </a:r>
          </a:p>
          <a:p>
            <a:r>
              <a:rPr lang="en-IN"/>
              <a:t>X₁ ≥ 2 , X₂ ≥ 5 , X₃ ≥ 10, X₄ ≥ 2 , X₅ ≥ 4 , X₆ ≥ 5, X₇ ≥ 5</a:t>
            </a:r>
          </a:p>
          <a:p>
            <a:endParaRPr lang="en-IN"/>
          </a:p>
          <a:p>
            <a:r>
              <a:rPr lang="en-IN"/>
              <a:t>Weaver &amp; Knitter Capacity Constraint</a:t>
            </a:r>
          </a:p>
          <a:p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B2DF30C-7287-877C-7D3A-E4FC50B0D6ED}"/>
              </a:ext>
            </a:extLst>
          </p:cNvPr>
          <p:cNvSpPr/>
          <p:nvPr/>
        </p:nvSpPr>
        <p:spPr>
          <a:xfrm>
            <a:off x="196028" y="357511"/>
            <a:ext cx="11487137" cy="941006"/>
          </a:xfrm>
          <a:prstGeom prst="roundRect">
            <a:avLst>
              <a:gd name="adj" fmla="val 549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B25B065-1813-1A6F-6012-8F0E4BBE3596}"/>
              </a:ext>
            </a:extLst>
          </p:cNvPr>
          <p:cNvSpPr/>
          <p:nvPr/>
        </p:nvSpPr>
        <p:spPr>
          <a:xfrm>
            <a:off x="196028" y="1608853"/>
            <a:ext cx="11487136" cy="1378187"/>
          </a:xfrm>
          <a:prstGeom prst="roundRect">
            <a:avLst>
              <a:gd name="adj" fmla="val 549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92326C-016B-6F2D-D923-3C1DA37D9228}"/>
              </a:ext>
            </a:extLst>
          </p:cNvPr>
          <p:cNvSpPr txBox="1"/>
          <p:nvPr/>
        </p:nvSpPr>
        <p:spPr>
          <a:xfrm>
            <a:off x="6348690" y="2577283"/>
            <a:ext cx="522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Here, all coefficients are the profit of each product.</a:t>
            </a:r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4B18262-E2B7-B503-3263-0213C4780E99}"/>
              </a:ext>
            </a:extLst>
          </p:cNvPr>
          <p:cNvSpPr/>
          <p:nvPr/>
        </p:nvSpPr>
        <p:spPr>
          <a:xfrm>
            <a:off x="196028" y="3186608"/>
            <a:ext cx="5743568" cy="3480409"/>
          </a:xfrm>
          <a:prstGeom prst="roundRect">
            <a:avLst>
              <a:gd name="adj" fmla="val 549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CC53D58-1F14-126A-FC76-B4D686CADE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0576"/>
          <a:stretch>
            <a:fillRect/>
          </a:stretch>
        </p:blipFill>
        <p:spPr>
          <a:xfrm>
            <a:off x="7078980" y="6087892"/>
            <a:ext cx="1110696" cy="5091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54948AB-E269-5A0E-C103-3E96B66A87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8310" y="6087892"/>
            <a:ext cx="958018" cy="526079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0EA904C-9460-8023-8BAF-0A5BAFCC9F42}"/>
              </a:ext>
            </a:extLst>
          </p:cNvPr>
          <p:cNvSpPr/>
          <p:nvPr/>
        </p:nvSpPr>
        <p:spPr>
          <a:xfrm>
            <a:off x="6174045" y="3186609"/>
            <a:ext cx="5495497" cy="3480408"/>
          </a:xfrm>
          <a:prstGeom prst="roundRect">
            <a:avLst>
              <a:gd name="adj" fmla="val 549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191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6D2D9-2140-3D3A-07FF-8A8BCFFADE80}"/>
              </a:ext>
            </a:extLst>
          </p:cNvPr>
          <p:cNvSpPr txBox="1">
            <a:spLocks/>
          </p:cNvSpPr>
          <p:nvPr/>
        </p:nvSpPr>
        <p:spPr>
          <a:xfrm>
            <a:off x="425995" y="581463"/>
            <a:ext cx="10515600" cy="65805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FINAL RESULT</a:t>
            </a:r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F7C405F-C9B8-6E8C-39F2-C4A10606BB76}"/>
              </a:ext>
            </a:extLst>
          </p:cNvPr>
          <p:cNvSpPr/>
          <p:nvPr/>
        </p:nvSpPr>
        <p:spPr>
          <a:xfrm>
            <a:off x="196028" y="357511"/>
            <a:ext cx="11487137" cy="941006"/>
          </a:xfrm>
          <a:prstGeom prst="roundRect">
            <a:avLst>
              <a:gd name="adj" fmla="val 549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9E76619-347B-E3BA-72B2-1B89C12B1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039" y="2657111"/>
            <a:ext cx="11699933" cy="447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00305F-1F40-F2DA-ABBB-5629F2013E21}"/>
              </a:ext>
            </a:extLst>
          </p:cNvPr>
          <p:cNvSpPr txBox="1"/>
          <p:nvPr/>
        </p:nvSpPr>
        <p:spPr>
          <a:xfrm>
            <a:off x="296039" y="1842744"/>
            <a:ext cx="11024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rgbClr val="00B050"/>
                </a:solidFill>
              </a:rPr>
              <a:t>PROFIT: </a:t>
            </a:r>
            <a:r>
              <a:rPr lang="en-IN" sz="3600">
                <a:solidFill>
                  <a:srgbClr val="00B050"/>
                </a:solidFill>
              </a:rPr>
              <a:t>222967.03 </a:t>
            </a:r>
            <a:r>
              <a:rPr lang="en-IN" sz="3600">
                <a:solidFill>
                  <a:schemeClr val="tx1">
                    <a:lumMod val="50000"/>
                    <a:lumOff val="50000"/>
                  </a:schemeClr>
                </a:solidFill>
              </a:rPr>
              <a:t>( PYTHON CODE &amp; EXCEL SOLVER )</a:t>
            </a:r>
            <a:endParaRPr lang="en-IN" sz="36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407AA9-6260-405A-69BD-493E8F1B7F4F}"/>
              </a:ext>
            </a:extLst>
          </p:cNvPr>
          <p:cNvSpPr/>
          <p:nvPr/>
        </p:nvSpPr>
        <p:spPr>
          <a:xfrm>
            <a:off x="196028" y="2893671"/>
            <a:ext cx="11487137" cy="3749489"/>
          </a:xfrm>
          <a:prstGeom prst="roundRect">
            <a:avLst>
              <a:gd name="adj" fmla="val 549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9FC78B-E131-2648-81F7-D6896751F895}"/>
              </a:ext>
            </a:extLst>
          </p:cNvPr>
          <p:cNvSpPr/>
          <p:nvPr/>
        </p:nvSpPr>
        <p:spPr>
          <a:xfrm>
            <a:off x="196028" y="1522468"/>
            <a:ext cx="11487137" cy="1220731"/>
          </a:xfrm>
          <a:prstGeom prst="roundRect">
            <a:avLst>
              <a:gd name="adj" fmla="val 549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060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web page&#10;&#10;AI-generated content may be incorrect.">
            <a:extLst>
              <a:ext uri="{FF2B5EF4-FFF2-40B4-BE49-F238E27FC236}">
                <a16:creationId xmlns:a16="http://schemas.microsoft.com/office/drawing/2014/main" id="{F997533A-DD31-74B7-D8BA-5C3888EF9B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8" r="704" b="-1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119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Resource &amp; Cost Structure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11</cp:revision>
  <dcterms:created xsi:type="dcterms:W3CDTF">2026-01-11T15:05:18Z</dcterms:created>
  <dcterms:modified xsi:type="dcterms:W3CDTF">2026-01-11T17:45:50Z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71d1394-37a0-4505-8d21-da79f28efe6c_Enabled">
    <vt:lpwstr>true</vt:lpwstr>
  </property>
  <property fmtid="{D5CDD505-2E9C-101B-9397-08002B2CF9AE}" pid="3" name="MSIP_Label_171d1394-37a0-4505-8d21-da79f28efe6c_SetDate">
    <vt:lpwstr>2026-01-11T16:21:12Z</vt:lpwstr>
  </property>
  <property fmtid="{D5CDD505-2E9C-101B-9397-08002B2CF9AE}" pid="4" name="MSIP_Label_171d1394-37a0-4505-8d21-da79f28efe6c_Method">
    <vt:lpwstr>Standard</vt:lpwstr>
  </property>
  <property fmtid="{D5CDD505-2E9C-101B-9397-08002B2CF9AE}" pid="5" name="MSIP_Label_171d1394-37a0-4505-8d21-da79f28efe6c_Name">
    <vt:lpwstr>defa4170-0d19-0005-0004-bc88714345d2</vt:lpwstr>
  </property>
  <property fmtid="{D5CDD505-2E9C-101B-9397-08002B2CF9AE}" pid="6" name="MSIP_Label_171d1394-37a0-4505-8d21-da79f28efe6c_SiteId">
    <vt:lpwstr>297d2b28-efc2-4659-ab8e-97e0f0d00304</vt:lpwstr>
  </property>
  <property fmtid="{D5CDD505-2E9C-101B-9397-08002B2CF9AE}" pid="7" name="MSIP_Label_171d1394-37a0-4505-8d21-da79f28efe6c_ActionId">
    <vt:lpwstr>41807270-b625-4362-b6df-b2255f5ec5a7</vt:lpwstr>
  </property>
  <property fmtid="{D5CDD505-2E9C-101B-9397-08002B2CF9AE}" pid="8" name="MSIP_Label_171d1394-37a0-4505-8d21-da79f28efe6c_ContentBits">
    <vt:lpwstr>0</vt:lpwstr>
  </property>
  <property fmtid="{D5CDD505-2E9C-101B-9397-08002B2CF9AE}" pid="9" name="MSIP_Label_171d1394-37a0-4505-8d21-da79f28efe6c_Tag">
    <vt:lpwstr>10, 3, 0, 1</vt:lpwstr>
  </property>
</Properties>
</file>